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42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Lượng hóa Giá trị: Lợi nhuận tức thì cho Nhà thầu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993392" cy="54864"/>
          </a:xfrm>
          <a:prstGeom prst="rect">
            <a:avLst/>
          </a:prstGeom>
          <a:solidFill>
            <a:srgbClr val="204295"/>
          </a:solidFill>
          <a:ln w="12700">
            <a:solidFill>
              <a:srgbClr val="20429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5440680" cy="5138928"/>
          </a:xfrm>
          <a:prstGeom prst="roundRect">
            <a:avLst>
              <a:gd name="adj" fmla="val 2135"/>
            </a:avLst>
          </a:prstGeom>
          <a:solidFill>
            <a:srgbClr val="F5F8FD"/>
          </a:solidFill>
          <a:ln w="13970">
            <a:solidFill>
              <a:srgbClr val="204295"/>
            </a:solidFill>
            <a:prstDash val="solid"/>
          </a:ln>
          <a:effectLst>
            <a:outerShdw sx="100000" sy="100000" kx="0" ky="0" algn="bl" rotWithShape="0" blurRad="25400" dist="50800" dir="2700000">
              <a:srgbClr val="D7DEE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078992"/>
            <a:ext cx="5440680" cy="713232"/>
          </a:xfrm>
          <a:prstGeom prst="rect">
            <a:avLst/>
          </a:prstGeom>
          <a:solidFill>
            <a:srgbClr val="204295"/>
          </a:solidFill>
          <a:ln w="12700">
            <a:solidFill>
              <a:srgbClr val="20429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152144"/>
            <a:ext cx="50383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Trạng thái Hiện tại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(Gạch nung truyền thống)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0488" y="1078992"/>
            <a:ext cx="5440680" cy="5138928"/>
          </a:xfrm>
          <a:prstGeom prst="roundRect">
            <a:avLst>
              <a:gd name="adj" fmla="val 2135"/>
            </a:avLst>
          </a:prstGeom>
          <a:solidFill>
            <a:srgbClr val="F5F8FD"/>
          </a:solidFill>
          <a:ln w="13970">
            <a:solidFill>
              <a:srgbClr val="204295"/>
            </a:solidFill>
            <a:prstDash val="solid"/>
          </a:ln>
          <a:effectLst>
            <a:outerShdw sx="100000" sy="100000" kx="0" ky="0" algn="bl" rotWithShape="0" blurRad="25400" dist="50800" dir="2700000">
              <a:srgbClr val="D7DEE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0488" y="1078992"/>
            <a:ext cx="5440680" cy="713232"/>
          </a:xfrm>
          <a:prstGeom prst="rect">
            <a:avLst/>
          </a:prstGeom>
          <a:solidFill>
            <a:srgbClr val="204295"/>
          </a:solidFill>
          <a:ln w="12700">
            <a:solidFill>
              <a:srgbClr val="20429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152144"/>
            <a:ext cx="50383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Trạng thái Khả dĩ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(Gạch không nung tự liên kết)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78608" y="1965960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9504" y="1965960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965960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4056" y="2167128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2167128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2167128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6744" y="2167128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2368296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9504" y="2368296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368296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11296" y="2368296"/>
            <a:ext cx="292608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20429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7248" y="2359152"/>
            <a:ext cx="548640" cy="-393192"/>
          </a:xfrm>
          <a:prstGeom prst="line">
            <a:avLst/>
          </a:prstGeom>
          <a:noFill/>
          <a:ln w="27940">
            <a:solidFill>
              <a:srgbClr val="20429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602736" y="1911096"/>
            <a:ext cx="256032" cy="-146304"/>
          </a:xfrm>
          <a:prstGeom prst="line">
            <a:avLst/>
          </a:prstGeom>
          <a:noFill/>
          <a:ln w="50800">
            <a:solidFill>
              <a:srgbClr val="204295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202168" y="1783080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7656" y="1783080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3144" y="1783080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02168" y="2139696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7656" y="2139696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53144" y="2139696"/>
            <a:ext cx="457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20429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773936"/>
            <a:ext cx="201168" cy="201168"/>
          </a:xfrm>
          <a:prstGeom prst="arc">
            <a:avLst/>
          </a:prstGeom>
          <a:noFill/>
          <a:ln w="21590">
            <a:solidFill>
              <a:srgbClr val="20429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99923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00837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16736" y="2926080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4752" y="2980944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Tốc độ thi công: 45 phút / m² tường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822960" y="369417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7033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👷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316736" y="3621024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44752" y="3675888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Yêu cầu nhân sự: Bắt buộc thợ xây lành nghề,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phụ thuộc tay nghề thợ để canh dây dọi.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822960" y="438912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3982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◔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316736" y="4315968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44752" y="4370832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Tỷ trọng vữa xây: Chiếm 18-22% tổng chi phí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vật liệu bức tường.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822960" y="508406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093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316736" y="5010912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4752" y="5065776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Hồ sơ Môi trường: Gây ô nhiễm,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không đạt tiêu chuẩn xanh.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6446520" y="299923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00837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40296" y="2926080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2980944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Tốc độ thi công: 15 phút / m² tường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(Tiết kiệm 30 phút/m²)</a:t>
            </a:r>
            <a:endParaRPr lang="en-US" sz="1280" dirty="0"/>
          </a:p>
        </p:txBody>
      </p:sp>
      <p:sp>
        <p:nvSpPr>
          <p:cNvPr id="50" name="Shape 48"/>
          <p:cNvSpPr/>
          <p:nvPr/>
        </p:nvSpPr>
        <p:spPr>
          <a:xfrm>
            <a:off x="6446520" y="369417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7033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940296" y="3621024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68312" y="3675888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Yêu cầu nhân sự: Thợ phổ thông có thể lắp ghép,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rãnh khóa tự động dẫn hướng.</a:t>
            </a:r>
            <a:endParaRPr lang="en-US" sz="1280" dirty="0"/>
          </a:p>
        </p:txBody>
      </p:sp>
      <p:sp>
        <p:nvSpPr>
          <p:cNvPr id="54" name="Shape 52"/>
          <p:cNvSpPr/>
          <p:nvPr/>
        </p:nvSpPr>
        <p:spPr>
          <a:xfrm>
            <a:off x="6446520" y="438912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3982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▱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940296" y="4315968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68312" y="4370832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Tỷ trọng vữa xây: 0%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(Loại bỏ hoàn toàn chi phí vữa).</a:t>
            </a:r>
            <a:endParaRPr lang="en-US" sz="1280" dirty="0"/>
          </a:p>
        </p:txBody>
      </p:sp>
      <p:sp>
        <p:nvSpPr>
          <p:cNvPr id="58" name="Shape 56"/>
          <p:cNvSpPr/>
          <p:nvPr/>
        </p:nvSpPr>
        <p:spPr>
          <a:xfrm>
            <a:off x="6446520" y="508406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AF0FA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5093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4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♻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940296" y="5010912"/>
            <a:ext cx="41696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20429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68312" y="5065776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Hồ sơ Môi trường: 100% tái chế,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dễ đạt tiêu chí LEED, LOTUS, ESG.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5879592" y="2916936"/>
            <a:ext cx="457200" cy="658368"/>
          </a:xfrm>
          <a:prstGeom prst="chevron">
            <a:avLst/>
          </a:prstGeom>
          <a:solidFill>
            <a:srgbClr val="204295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16168" y="3136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783080" y="5870448"/>
            <a:ext cx="8641080" cy="694944"/>
          </a:xfrm>
          <a:prstGeom prst="roundRect">
            <a:avLst>
              <a:gd name="adj" fmla="val 13158"/>
            </a:avLst>
          </a:prstGeom>
          <a:solidFill>
            <a:srgbClr val="204295"/>
          </a:solidFill>
          <a:ln w="12700">
            <a:solidFill>
              <a:srgbClr val="20429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20240" y="5952744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cuối cùng: Tiết kiệm 15-25% tổng chi phí vật liệu và rút ngắn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 thời gian thi công thực tế tại công trường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Lượng hóa Giá trị: Lợi nhuận tức thì cho Nhà thầu</dc:title>
  <dc:subject>Lượng hóa giá trị: lợi nhuận tức thì cho nhà thầu</dc:subject>
  <dc:creator>Codex</dc:creator>
  <cp:lastModifiedBy>Codex</cp:lastModifiedBy>
  <cp:revision>1</cp:revision>
  <dcterms:created xsi:type="dcterms:W3CDTF">2026-05-01T09:26:14Z</dcterms:created>
  <dcterms:modified xsi:type="dcterms:W3CDTF">2026-05-01T09:26:14Z</dcterms:modified>
</cp:coreProperties>
</file>